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Primitives</c:v>
                  </c:pt>
                  <c:pt idx="1">
                    <c:v>Multi-feature</c:v>
                  </c:pt>
                  <c:pt idx="2">
                    <c:v>From document</c:v>
                  </c:pt>
                  <c:pt idx="3">
                    <c:v>Edit tasks</c:v>
                  </c:pt>
                  <c:pt idx="4">
                    <c:v>Simulation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one-sentence pitch: an AI design partner that works entirely on the user's own machine, proposes a plan you approve before it touches your model, and gets better the more you use it. Stress the three pillars: privacy, human-in-the-loop, and self-improvement. Set expectation that I'll end with a self-assessment against the MSc suitability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obstacles are the spine of the whole proposal. Reliability -&gt; solved by the human checkpoint. Privacy -&gt; solved by a fully local pipeline. Capability limits -&gt; solved by honest routing: deterministic parsers do exact geometry, local LLMs do reasoning, and impossible requests get a structured explanation instead of a fake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capabilities. Emphasise that the user keeps full manual control of FreeCAD at all times — the agent is a collaborator, not a replacement. The fourth, self-extension, is the most novel and I'll return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The key insight: I am not trying to make the model perfect. I am inserting a review step so that when the model is wrong, fixing it is a single edit, not a corrupted file. Per-step kernel validation plus a bounded retry loop is where most of my engineering effort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user works in FreeCAD or the chat panel; the router decides where each query goes; the planner orchestrates tools; the tools wrap FreeCAD, memory, and the local model server. Everything sits inside the dashed privacy boundary. The single most important decision is reusing FreeCAD — that is what makes 40 days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MCP rather than ad-hoc function calling: three reasons on the slide. Stress inspection tools under CAD operations — an agent that can read the feature tree and take screenshots can ground itself in reality instead of its own assumptions, which is what makes per-step validation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inspired by Voyager's skill library. The crucial differences from a chatbot writing code: a static-analysis gate, a no-network sandbox, mandatory human approval, and analytical test cases. The capability report for infeasible requests is a designed response type, not a failure — it satisfies the supervisor's expectation that the system knows its own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the memory-growth concern from my original idea. It is NOT fine-tuning — no weight updates, fully local, auditable. The episodic-&gt;semantic consolidation is adapted from Generative Agents and Reflexion. The on/off ablation of this subsystem is a headline result for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more rigorous than the industry. Commercial copilots promise zero-retention contractually; I prove privacy by running fully offline. That offline test is part of my evaluation, so the claim is demonstrable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nothing here is behind a paywall. The planner-model size flexes to whatever GPU I have — I will validate the largest model on day 1. The optional cloud API is the only paid component and it is off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ends in a demonstrable behaviour, not a code milestone, so you can verify progress at any week boundary. Days 38-40 are reserved buffer. If I slip, I de-scope in a fixed order — next slide region — but never the plan-confirm loop or the memory ablation.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confirmation step makes assisted success near-total, my headline metric is interventions required, not raw autonomy — which is the more honest and more interesting number. The memory ablation gives a clean before/after research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Tell the supervisor I have explicitly assessed the project against their five guideline questions, and the next five slides answer each in turn — including the honest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the ingredients exist. My value-add is the combination and four mechanisms no existing system has together. The framing for the thesis is 'an integrated, evaluated, privacy-preserving system with a human-in-the-loop protocol' — not 'the first AI CAD agent'. That honesty is itself MSc-level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strength of the project: the training-free design sidesteps the classic student trap of needing data they can't get. Public CAD datasets are open. My benchmark is self-authored. Memory data is generated locally at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I've done the homework: four of five sub-problems have proven, accessible techniques. The one weak spot — drawing understanding — I've deliberately de-risked by scoping it as assistive-only, with the confirm step acting as the verification. Being explicit about the red row is what shows technical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comes from scope discipline, not optimism. The de-scope ladder is the safety net: I can lose the bottom four features and still have a thesis, because the two contributions at the bottom are protected. Day-1 GPU validation removes the biggest unknown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my career goals. If I want applied-AI or AI-engineering roles, this project demonstrates the full modern agent stack plus privacy engineering and a rigorous evaluation — exactly the portfolio piece that stands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table is the most persuasive artefact. Don't claim novelty for any single ingredient — claim the combination. Note honestly that commercial tools beat me on raw generation quality; my axes are privacy, the human protocol, simulation, self-extension, and measured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positioning and the three pillars. Invite the supervisor's feedback specifically on scope: am I cutting the right things, and is the evaluation rigorous enough. Have the de-scope ladder and roadmap ready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3.png"/><Relationship Id="rId6" Type="http://schemas.openxmlformats.org/officeDocument/2006/relationships/image" Target="../media/image-8-1.png"/><Relationship Id="rId7" Type="http://schemas.openxmlformats.org/officeDocument/2006/relationships/image" Target="../media/image-8-3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3.png"/><Relationship Id="rId7" Type="http://schemas.openxmlformats.org/officeDocument/2006/relationships/image" Target="../media/image-10-7.png"/><Relationship Id="rId8" Type="http://schemas.openxmlformats.org/officeDocument/2006/relationships/image" Target="../media/image-10-3.png"/><Relationship Id="rId9" Type="http://schemas.openxmlformats.org/officeDocument/2006/relationships/image" Target="../media/image-10-3.png"/><Relationship Id="rId10" Type="http://schemas.openxmlformats.org/officeDocument/2006/relationships/image" Target="../media/image-10-3.png"/><Relationship Id="rId11" Type="http://schemas.openxmlformats.org/officeDocument/2006/relationships/image" Target="../media/image-10-3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3.png"/><Relationship Id="rId14" Type="http://schemas.openxmlformats.org/officeDocument/2006/relationships/image" Target="../media/image-10-3.png"/><Relationship Id="rId15" Type="http://schemas.openxmlformats.org/officeDocument/2006/relationships/image" Target="../media/image-10-3.png"/><Relationship Id="rId16" Type="http://schemas.openxmlformats.org/officeDocument/2006/relationships/image" Target="../media/image-10-3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image" Target="../media/image-12-5.png"/><Relationship Id="rId7" Type="http://schemas.openxmlformats.org/officeDocument/2006/relationships/image" Target="../media/image-12-6.png"/><Relationship Id="rId8" Type="http://schemas.openxmlformats.org/officeDocument/2006/relationships/image" Target="../media/image-1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2.png"/><Relationship Id="rId6" Type="http://schemas.openxmlformats.org/officeDocument/2006/relationships/image" Target="../media/image-14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E263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4114800" cy="4114800"/>
          </a:xfrm>
          <a:prstGeom prst="ellipse">
            <a:avLst/>
          </a:prstGeom>
          <a:solidFill>
            <a:srgbClr val="0F2A4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624" y="114894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57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MAJOR PROJECT  ·  PROPOSAL DEFENCE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Privacy-Preserving Agentic AI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for Parametric CAD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Locally-hosted, human-in-the-loop design automation built on FreeCAD and the Model Context Protocol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E26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257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40-day timeline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68880" y="5257800"/>
            <a:ext cx="2059229" cy="457200"/>
          </a:xfrm>
          <a:prstGeom prst="roundRect">
            <a:avLst>
              <a:gd name="adj" fmla="val 50000"/>
            </a:avLst>
          </a:prstGeom>
          <a:solidFill>
            <a:srgbClr val="0E26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5257800"/>
            <a:ext cx="20592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local &amp; private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02429" y="5257800"/>
            <a:ext cx="2479853" cy="457200"/>
          </a:xfrm>
          <a:prstGeom prst="roundRect">
            <a:avLst>
              <a:gd name="adj" fmla="val 50000"/>
            </a:avLst>
          </a:prstGeom>
          <a:solidFill>
            <a:srgbClr val="0E26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2429" y="5257800"/>
            <a:ext cx="24798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FreeCAD + MCP + local LLMs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 the Project Supervisor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obstacles block AI-assisted CAD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3529584" cy="3931920"/>
          </a:xfrm>
          <a:prstGeom prst="roundRect">
            <a:avLst>
              <a:gd name="adj" fmla="val 20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30" y="2483510"/>
            <a:ext cx="336499" cy="336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5468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960120" y="37033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hallucinate dimensions and mis-order features. In exact geometry, one silent error corrupts the whole model. Published work confirms LLMs deviate badly under spatial reasoning.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80560" y="1920240"/>
            <a:ext cx="3529584" cy="3931920"/>
          </a:xfrm>
          <a:prstGeom prst="roundRect">
            <a:avLst>
              <a:gd name="adj" fmla="val 20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0600" y="228600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110" y="2483510"/>
            <a:ext cx="336499" cy="3364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0600" y="315468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4800600" y="37033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designs are commercially sensitive. Routing drawings and design chat through cloud APIs is unacceptable in most industrial settings.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321040" y="1920240"/>
            <a:ext cx="3529584" cy="3931920"/>
          </a:xfrm>
          <a:prstGeom prst="roundRect">
            <a:avLst>
              <a:gd name="adj" fmla="val 20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41080" y="228600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/home/claude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590" y="2483510"/>
            <a:ext cx="336499" cy="3364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41080" y="315468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Local-model limits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8641080" y="37033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early experiments confirmed it: end-to-end multimodal CAD generation with local models alone simply does not work well enough.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answers all three with an </a:t>
            </a:r>
            <a:pPr indent="0" marL="0">
              <a:buNone/>
            </a:pPr>
            <a:r>
              <a:rPr lang="en-US" sz="1500" b="1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</a:t>
            </a:r>
            <a:pPr indent="0" marL="0">
              <a:buNone/>
            </a:pPr>
            <a:r>
              <a:rPr lang="en-US" sz="15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 — not a bigger model.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design partner that lives inside your CAD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states intent in plain language or uploads a file. The agent proposes a verifiable, editable modelling plan. Nothing is built until the user approves — and every action runs locally.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660904"/>
            <a:ext cx="457200" cy="457200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icons/compa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2784348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5117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together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389120" y="2551176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part or upload a sketch / PDF / STEP / STL — the agent drafts a step-by-step plan and builds it with you.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447288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E8EEF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3593592"/>
            <a:ext cx="457200" cy="457200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home/claude/icons/co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3717036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8386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by conversation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389120" y="3483864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changes to an existing model — “enlarge the corner holes to M6” — and the agent edits parametrically.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4379976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68680" y="4526280"/>
            <a:ext cx="457200" cy="457200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/home/claude/icons/flas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64972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41655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physically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4389120" y="4416552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linear-static FEA or steady-state thermal checks as agent-callable tools, with results explained in plain language.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40080" y="5312664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E8EEF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8680" y="5458968"/>
            <a:ext cx="457200" cy="457200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/home/claude/icons/magic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5582412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53492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itself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4389120" y="534924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method and equations; it writes, sandbox-tests, and registers a new analysis tool for future use.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→ Confirm → Execute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mandatory human checkpoint turns LLM unreliability from a correctness risk into a cheap review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29584" cy="3383280"/>
          </a:xfrm>
          <a:prstGeom prst="roundRect">
            <a:avLst>
              <a:gd name="adj" fmla="val 2162"/>
            </a:avLst>
          </a:prstGeom>
          <a:solidFill>
            <a:srgbClr val="0E2638"/>
          </a:solidFill>
          <a:ln w="12700">
            <a:solidFill>
              <a:srgbClr val="2146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69464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10" y="2742286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18104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27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950976" y="338328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50976" y="3840480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5E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drafts a numbered, fully-parameterised feature plan with a one-line rationale per step — schema-enforced, so it is never malformed.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80560" y="2240280"/>
            <a:ext cx="3529584" cy="3383280"/>
          </a:xfrm>
          <a:prstGeom prst="roundRect">
            <a:avLst>
              <a:gd name="adj" fmla="val 2162"/>
            </a:avLst>
          </a:prstGeom>
          <a:solidFill>
            <a:srgbClr val="0E2638"/>
          </a:solidFill>
          <a:ln w="12700">
            <a:solidFill>
              <a:srgbClr val="2146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2569464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/home/claude/icons/confi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990" y="2742286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58584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27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791456" y="338328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791456" y="3840480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5E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runs in a throwaway document; a preview is shown beside the editable plan. The user tweaks any parameter or rejects with feedback. Nothing touches the real model yet.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321040" y="2240280"/>
            <a:ext cx="3529584" cy="3383280"/>
          </a:xfrm>
          <a:prstGeom prst="roundRect">
            <a:avLst>
              <a:gd name="adj" fmla="val 2162"/>
            </a:avLst>
          </a:prstGeom>
          <a:solidFill>
            <a:srgbClr val="0E2638"/>
          </a:solidFill>
          <a:ln w="12700">
            <a:solidFill>
              <a:srgbClr val="2146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13648" y="2569464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6470" y="2742286"/>
            <a:ext cx="294437" cy="29443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99064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27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8631936" y="338328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631936" y="3840480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5E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steps replay one-by-one in the live model. After each, the kernel is validated; errors feed back for a bounded retry. The whole action is one undo.</a:t>
            </a:r>
            <a:endParaRPr lang="en-US" sz="1350" dirty="0"/>
          </a:p>
        </p:txBody>
      </p:sp>
      <p:pic>
        <p:nvPicPr>
          <p:cNvPr id="23" name="Image 3" descr="/home/claude/icons/arrow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3785616"/>
            <a:ext cx="256032" cy="256032"/>
          </a:xfrm>
          <a:prstGeom prst="rect">
            <a:avLst/>
          </a:prstGeom>
        </p:spPr>
      </p:pic>
      <p:pic>
        <p:nvPicPr>
          <p:cNvPr id="24" name="Image 4" descr="/home/claude/icons/arrow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378561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 literature shows autonomous LLM-CAD fails on spatial reasoning. The checkpoint is what makes a local model usable.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inside one local privacy boundary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pic>
        <p:nvPicPr>
          <p:cNvPr id="6" name="Image 1" descr="/home/claude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955280" cy="551523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961120" y="1783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8" name="Text 4"/>
          <p:cNvSpPr/>
          <p:nvPr/>
        </p:nvSpPr>
        <p:spPr>
          <a:xfrm>
            <a:off x="9345168" y="1728216"/>
            <a:ext cx="2206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345168" y="2002536"/>
            <a:ext cx="22064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+ planner, run locally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961120" y="26243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7FB0C9"/>
          </a:solidFill>
          <a:ln/>
        </p:spPr>
      </p:sp>
      <p:sp>
        <p:nvSpPr>
          <p:cNvPr id="11" name="Text 7"/>
          <p:cNvSpPr/>
          <p:nvPr/>
        </p:nvSpPr>
        <p:spPr>
          <a:xfrm>
            <a:off x="9345168" y="2569464"/>
            <a:ext cx="2206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345168" y="2843784"/>
            <a:ext cx="22064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CAD, simulation, ingest, toolroom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961120" y="346557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AEBCC7"/>
          </a:solidFill>
          <a:ln/>
        </p:spPr>
      </p:sp>
      <p:sp>
        <p:nvSpPr>
          <p:cNvPr id="14" name="Text 10"/>
          <p:cNvSpPr/>
          <p:nvPr/>
        </p:nvSpPr>
        <p:spPr>
          <a:xfrm>
            <a:off x="9345168" y="3410712"/>
            <a:ext cx="2206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345168" y="3685032"/>
            <a:ext cx="22064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FreeCAD, memory, Ollama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961120" y="4352544"/>
            <a:ext cx="2590495" cy="13716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/>
        </p:spPr>
      </p:sp>
      <p:sp>
        <p:nvSpPr>
          <p:cNvPr id="17" name="Text 13"/>
          <p:cNvSpPr/>
          <p:nvPr/>
        </p:nvSpPr>
        <p:spPr>
          <a:xfrm>
            <a:off x="9162288" y="4489704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162288" y="4764024"/>
            <a:ext cx="21881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build a CAD kernel. Reuse FreeCAD; spend all effort on the agent layer.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MCP tool servers — all local, all auditable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349240" cy="1993392"/>
          </a:xfrm>
          <a:prstGeom prst="roundRect">
            <a:avLst>
              <a:gd name="adj" fmla="val 367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07568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icons/cube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46" y="2238634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4208" y="20939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operations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697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 atomic tools: sketch, pad / pocket / revolve / loft, fillet, chamfer, boolean, patterns, parametric edits, export to STEP / STL / IGES — plus inspection tools so the agent can read the model state.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18504" y="1783080"/>
            <a:ext cx="5349240" cy="1993392"/>
          </a:xfrm>
          <a:prstGeom prst="roundRect">
            <a:avLst>
              <a:gd name="adj" fmla="val 367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92824" y="207568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/home/claude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770" y="2238634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42632" y="20939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92824" y="2697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FreeCAD's FEM workbench (CalculiX): material, constraints, loads, meshing, solve, and a plain-language result summary with safety factor and stated assumptions.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069080"/>
            <a:ext cx="5349240" cy="1993392"/>
          </a:xfrm>
          <a:prstGeom prst="roundRect">
            <a:avLst>
              <a:gd name="adj" fmla="val 367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4400" y="436168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/home/claude/icons/im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46" y="4524634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64208" y="43799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ingestion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14400" y="4983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STEP / STL parsing for exact geometry (no hallucination); assistive PDF + drawing reading via a local vision-language model, marked “unverified.”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18504" y="4069080"/>
            <a:ext cx="5349240" cy="1993392"/>
          </a:xfrm>
          <a:prstGeom prst="roundRect">
            <a:avLst>
              <a:gd name="adj" fmla="val 367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92824" y="436168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/home/claude/icons/toolro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770" y="4524634"/>
            <a:ext cx="277612" cy="2776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42632" y="43799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Toolroom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592824" y="4983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self-extension registry — synthesises, sandbox-tests, and persists new calculation tools, or returns a structured capability report when infeasible.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gives process isolation (vital for the sandboxed toolroom), dynamic tool discovery, and model-vendor independence.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Toolroom: safe self-extension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tool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needed analysis doesn't exist, the agent can build it — under strict guardrails and a human gate.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529584" cy="1234440"/>
          </a:xfrm>
          <a:prstGeom prst="roundRect">
            <a:avLst>
              <a:gd name="adj" fmla="val 592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7824" y="257403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" y="25740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08760" y="23591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08760" y="2697480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against an explicit capability model. If impossible → structured report.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2194560"/>
            <a:ext cx="3529584" cy="1234440"/>
          </a:xfrm>
          <a:prstGeom prst="roundRect">
            <a:avLst>
              <a:gd name="adj" fmla="val 592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18304" y="257403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718304" y="25740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49240" y="23591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49240" y="2697480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typed Python function citing the user's method.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21040" y="2194560"/>
            <a:ext cx="3529584" cy="1234440"/>
          </a:xfrm>
          <a:prstGeom prst="roundRect">
            <a:avLst>
              <a:gd name="adj" fmla="val 5926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58784" y="257403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8558784" y="25740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189720" y="23591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check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89720" y="2697480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allowlist: reject file / network / exec access.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3739896"/>
            <a:ext cx="3529584" cy="1234440"/>
          </a:xfrm>
          <a:prstGeom prst="roundRect">
            <a:avLst>
              <a:gd name="adj" fmla="val 5926"/>
            </a:avLst>
          </a:prstGeom>
          <a:solidFill>
            <a:srgbClr val="E8EEF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77824" y="411937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877824" y="41193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508760" y="390448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test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508760" y="424281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an isolated subprocess vs. analytical test cases.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80560" y="3739896"/>
            <a:ext cx="3529584" cy="1234440"/>
          </a:xfrm>
          <a:prstGeom prst="roundRect">
            <a:avLst>
              <a:gd name="adj" fmla="val 5926"/>
            </a:avLst>
          </a:prstGeom>
          <a:solidFill>
            <a:srgbClr val="E8EEF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18304" y="411937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4718304" y="41193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349240" y="390448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349240" y="424281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code + results; nothing registers without a yes.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321040" y="3739896"/>
            <a:ext cx="3529584" cy="1234440"/>
          </a:xfrm>
          <a:prstGeom prst="roundRect">
            <a:avLst>
              <a:gd name="adj" fmla="val 5926"/>
            </a:avLst>
          </a:prstGeom>
          <a:solidFill>
            <a:srgbClr val="E8EEF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558784" y="411937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8558784" y="41193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189720" y="390448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189720" y="424281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as a new MCP tool, reusable in future sessions.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scope:  </a:t>
            </a:r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closed-form &amp; 1-D numerical calculations (beam deflection, hoop stress, 1-D heat) — honest about what local code-synthesis can verifiably achieve.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Reflective memory — learning without fine-tuning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18488" y="2212848"/>
            <a:ext cx="658368" cy="65836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icons/im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247" y="2390607"/>
            <a:ext cx="302849" cy="3028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Episodic log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1248" y="338328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action, error &amp; user correction stored in SQLite.</a:t>
            </a:r>
            <a:endParaRPr lang="en-US" sz="1200" dirty="0"/>
          </a:p>
        </p:txBody>
      </p:sp>
      <p:pic>
        <p:nvPicPr>
          <p:cNvPr id="11" name="Image 2" descr="/home/claude/icons/arrow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2944368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456432" y="192024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434840" y="2212848"/>
            <a:ext cx="658368" cy="65836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/home/claude/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599" y="2390607"/>
            <a:ext cx="302849" cy="3028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39312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657600" y="338328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distils episodes into short “lesson cards” with triggers.</a:t>
            </a:r>
            <a:endParaRPr lang="en-US" sz="1200" dirty="0"/>
          </a:p>
        </p:txBody>
      </p:sp>
      <p:pic>
        <p:nvPicPr>
          <p:cNvPr id="17" name="Image 4" descr="/home/claude/icons/arrow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944368"/>
            <a:ext cx="237744" cy="23774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272784" y="192024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7251192" y="2212848"/>
            <a:ext cx="658368" cy="65836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5" descr="/home/claude/icons/mem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951" y="2390607"/>
            <a:ext cx="302849" cy="30284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455664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store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6473952" y="338328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embedded in a local vector DB (Chroma) with provenance.</a:t>
            </a:r>
            <a:endParaRPr lang="en-US" sz="1200" dirty="0"/>
          </a:p>
        </p:txBody>
      </p:sp>
      <p:pic>
        <p:nvPicPr>
          <p:cNvPr id="23" name="Image 6" descr="/home/claude/icons/arrow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2944368"/>
            <a:ext cx="237744" cy="23774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9089136" y="192024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10067544" y="2212848"/>
            <a:ext cx="658368" cy="65836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7" descr="/home/claude/icons/ey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5303" y="2390607"/>
            <a:ext cx="302849" cy="30284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272016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9290304" y="338328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relevant lessons injected per query — a few hundred tokens.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40080" y="457200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1331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960120" y="4892040"/>
            <a:ext cx="658368" cy="658368"/>
          </a:xfrm>
          <a:prstGeom prst="ellipse">
            <a:avLst/>
          </a:prstGeom>
          <a:solidFill>
            <a:srgbClr val="0A4A44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8" descr="/home/claude/icons/usershiel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879" y="5069799"/>
            <a:ext cx="302849" cy="302849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828800" y="4754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by design</a:t>
            </a:r>
            <a:endParaRPr lang="en-US" sz="1700" dirty="0"/>
          </a:p>
        </p:txBody>
      </p:sp>
      <p:sp>
        <p:nvSpPr>
          <p:cNvPr id="33" name="Text 22"/>
          <p:cNvSpPr/>
          <p:nvPr/>
        </p:nvSpPr>
        <p:spPr>
          <a:xfrm>
            <a:off x="1828800" y="513892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5E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consolidated, raw episodes are pruned, so context never grows without bound (your “vanishing trail”). Contradicted cards are superseded; the card cap uses least-recently-retrieved eviction, and cards stay user-inspectable.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COMMITMENT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architectural, not contractual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28655" y="59436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8510" y="80421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0E2638"/>
          </a:solidFill>
          <a:ln w="12700">
            <a:solidFill>
              <a:srgbClr val="21465F"/>
            </a:solidFill>
            <a:prstDash val="solid"/>
          </a:ln>
        </p:spPr>
      </p:sp>
      <p:pic>
        <p:nvPicPr>
          <p:cNvPr id="7" name="Image 1" descr="/home/claude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6771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20370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by default: models (Ollama), tools, memory and files never leave the machine.</a:t>
            </a:r>
            <a:endParaRPr lang="en-US" sz="1450" dirty="0"/>
          </a:p>
        </p:txBody>
      </p:sp>
      <p:pic>
        <p:nvPicPr>
          <p:cNvPr id="9" name="Image 2" descr="/home/claude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5526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319125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escalation is OFF by default — a configurable trust boundary, not an absolute claim.</a:t>
            </a:r>
            <a:endParaRPr lang="en-US" sz="1450" dirty="0"/>
          </a:p>
        </p:txBody>
      </p:sp>
      <p:pic>
        <p:nvPicPr>
          <p:cNvPr id="11" name="Image 3" descr="/home/claude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4281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417880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enabled, every escalation shows a consent dialog stating exactly what would be sent.</a:t>
            </a:r>
            <a:endParaRPr lang="en-US" sz="1450" dirty="0"/>
          </a:p>
        </p:txBody>
      </p:sp>
      <p:pic>
        <p:nvPicPr>
          <p:cNvPr id="13" name="Image 4" descr="/home/claude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3036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7320" y="51663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persistent header indicator shows the current mode; all escalations are logged locally.</a:t>
            </a:r>
            <a:endParaRPr lang="en-US" sz="1450" dirty="0"/>
          </a:p>
        </p:txBody>
      </p:sp>
      <p:sp>
        <p:nvSpPr>
          <p:cNvPr id="15" name="Shape 8"/>
          <p:cNvSpPr/>
          <p:nvPr/>
        </p:nvSpPr>
        <p:spPr>
          <a:xfrm>
            <a:off x="7772400" y="19202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0D9488"/>
          </a:solidFill>
          <a:ln/>
        </p:spPr>
      </p:sp>
      <p:sp>
        <p:nvSpPr>
          <p:cNvPr id="16" name="Text 9"/>
          <p:cNvSpPr/>
          <p:nvPr/>
        </p:nvSpPr>
        <p:spPr>
          <a:xfrm>
            <a:off x="804672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046720" y="2697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benchmark is run with networking disabled.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8046720" y="41148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043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still works offline, the privacy claim is proven — not promised. This is also the differentiator vs. every commercial tool, which offers only zero-retention policies.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pragmatic, fully open &amp; local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3529584" cy="3657600"/>
          </a:xfrm>
          <a:prstGeom prst="roundRect">
            <a:avLst>
              <a:gd name="adj" fmla="val 20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828800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13314B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1993392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icons/compa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96" y="2151400"/>
            <a:ext cx="269199" cy="2691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0116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&amp; geometry</a:t>
            </a:r>
            <a:endParaRPr lang="en-US" sz="1700" dirty="0"/>
          </a:p>
        </p:txBody>
      </p:sp>
      <p:pic>
        <p:nvPicPr>
          <p:cNvPr id="11" name="Image 2" descr="/home/claude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3580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98094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FreeCAD 1.0 (Python API)</a:t>
            </a:r>
            <a:endParaRPr lang="en-US" sz="1350" dirty="0"/>
          </a:p>
        </p:txBody>
      </p:sp>
      <p:pic>
        <p:nvPicPr>
          <p:cNvPr id="13" name="Image 3" descr="/home/claude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60273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54787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OpenCASCADE kernel</a:t>
            </a:r>
            <a:endParaRPr lang="en-US" sz="1350" dirty="0"/>
          </a:p>
        </p:txBody>
      </p:sp>
      <p:pic>
        <p:nvPicPr>
          <p:cNvPr id="15" name="Image 4" descr="/home/claude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169664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41148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CalculiX FEM solver</a:t>
            </a:r>
            <a:endParaRPr lang="en-US" sz="1350" dirty="0"/>
          </a:p>
        </p:txBody>
      </p:sp>
      <p:pic>
        <p:nvPicPr>
          <p:cNvPr id="17" name="Image 5" descr="/home/claude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736592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25880" y="46817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STL / IGES I/O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4480560" y="1828800"/>
            <a:ext cx="3529584" cy="3657600"/>
          </a:xfrm>
          <a:prstGeom prst="roundRect">
            <a:avLst>
              <a:gd name="adj" fmla="val 20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480560" y="1828800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13314B"/>
          </a:solidFill>
          <a:ln/>
        </p:spPr>
      </p:sp>
      <p:sp>
        <p:nvSpPr>
          <p:cNvPr id="21" name="Shape 13"/>
          <p:cNvSpPr/>
          <p:nvPr/>
        </p:nvSpPr>
        <p:spPr>
          <a:xfrm>
            <a:off x="4773168" y="1993392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6" descr="/home/claude/icons/robo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1176" y="2151400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486400" y="20116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reasoning</a:t>
            </a:r>
            <a:endParaRPr lang="en-US" sz="1700" dirty="0"/>
          </a:p>
        </p:txBody>
      </p:sp>
      <p:pic>
        <p:nvPicPr>
          <p:cNvPr id="24" name="Image 7" descr="/home/claude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035808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66360" y="298094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(local serving)</a:t>
            </a:r>
            <a:endParaRPr lang="en-US" sz="1350" dirty="0"/>
          </a:p>
        </p:txBody>
      </p:sp>
      <p:pic>
        <p:nvPicPr>
          <p:cNvPr id="26" name="Image 8" descr="/home/claude/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602736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66360" y="354787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7B router</a:t>
            </a:r>
            <a:endParaRPr lang="en-US" sz="1350" dirty="0"/>
          </a:p>
        </p:txBody>
      </p:sp>
      <p:pic>
        <p:nvPicPr>
          <p:cNvPr id="28" name="Image 9" descr="/home/claude/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169664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166360" y="41148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14-32B planner</a:t>
            </a:r>
            <a:endParaRPr lang="en-US" sz="1350" dirty="0"/>
          </a:p>
        </p:txBody>
      </p:sp>
      <p:pic>
        <p:nvPicPr>
          <p:cNvPr id="30" name="Image 10" descr="/home/claude/icons/check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4736592"/>
            <a:ext cx="237744" cy="237744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166360" y="46817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Qwen2.5-VL vision</a:t>
            </a:r>
            <a:endParaRPr lang="en-US" sz="1350" dirty="0"/>
          </a:p>
        </p:txBody>
      </p:sp>
      <p:sp>
        <p:nvSpPr>
          <p:cNvPr id="32" name="Shape 19"/>
          <p:cNvSpPr/>
          <p:nvPr/>
        </p:nvSpPr>
        <p:spPr>
          <a:xfrm>
            <a:off x="8321040" y="1828800"/>
            <a:ext cx="3529584" cy="3657600"/>
          </a:xfrm>
          <a:prstGeom prst="roundRect">
            <a:avLst>
              <a:gd name="adj" fmla="val 207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0"/>
          <p:cNvSpPr/>
          <p:nvPr/>
        </p:nvSpPr>
        <p:spPr>
          <a:xfrm>
            <a:off x="8321040" y="1828800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13314B"/>
          </a:solidFill>
          <a:ln/>
        </p:spPr>
      </p:sp>
      <p:sp>
        <p:nvSpPr>
          <p:cNvPr id="34" name="Shape 21"/>
          <p:cNvSpPr/>
          <p:nvPr/>
        </p:nvSpPr>
        <p:spPr>
          <a:xfrm>
            <a:off x="8613648" y="1993392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11" descr="/home/claude/icons/cog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1656" y="2151400"/>
            <a:ext cx="269199" cy="269199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326880" y="20116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data</a:t>
            </a:r>
            <a:endParaRPr lang="en-US" sz="1700" dirty="0"/>
          </a:p>
        </p:txBody>
      </p:sp>
      <p:pic>
        <p:nvPicPr>
          <p:cNvPr id="37" name="Image 12" descr="/home/claude/icons/check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080" y="3035808"/>
            <a:ext cx="237744" cy="23774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9006840" y="298094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Python SDK (stdio)</a:t>
            </a:r>
            <a:endParaRPr lang="en-US" sz="1350" dirty="0"/>
          </a:p>
        </p:txBody>
      </p:sp>
      <p:pic>
        <p:nvPicPr>
          <p:cNvPr id="39" name="Image 13" descr="/home/claude/icons/check_tea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1080" y="3602736"/>
            <a:ext cx="237744" cy="237744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9006840" y="354787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episodic log</a:t>
            </a:r>
            <a:endParaRPr lang="en-US" sz="1350" dirty="0"/>
          </a:p>
        </p:txBody>
      </p:sp>
      <p:pic>
        <p:nvPicPr>
          <p:cNvPr id="41" name="Image 14" descr="/home/claude/icons/check_tea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1080" y="4169664"/>
            <a:ext cx="237744" cy="237744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9006840" y="41148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lessons</a:t>
            </a:r>
            <a:endParaRPr lang="en-US" sz="1350" dirty="0"/>
          </a:p>
        </p:txBody>
      </p:sp>
      <p:pic>
        <p:nvPicPr>
          <p:cNvPr id="43" name="Image 15" descr="/home/claude/icons/check_tea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1080" y="4736592"/>
            <a:ext cx="237744" cy="23774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9006840" y="46817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PySide6 dock UI</a:t>
            </a:r>
            <a:endParaRPr lang="en-US" sz="1350" dirty="0"/>
          </a:p>
        </p:txBody>
      </p:sp>
      <p:sp>
        <p:nvSpPr>
          <p:cNvPr id="45" name="Text 2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throughout · every component is free &amp; open-source · no paid API required for the core system.</a:t>
            </a:r>
            <a:endParaRPr lang="en-US" sz="1300" dirty="0"/>
          </a:p>
        </p:txBody>
      </p:sp>
      <p:sp>
        <p:nvSpPr>
          <p:cNvPr id="46" name="Text 2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47" name="Text 2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40-day roadmap with hard weekly checkpoints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F1F5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920240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20240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1–4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103120" y="1892808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303520" y="1892808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FreeCAD scripting; validate models on GPU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409444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E8EEF3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" y="2455164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455164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5–10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03120" y="2427732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CAD core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303520" y="2427732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 tools; basic agent loop modifies live geometry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2944368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F1F5F8"/>
          </a:solidFill>
          <a:ln/>
        </p:spPr>
      </p:sp>
      <p:sp>
        <p:nvSpPr>
          <p:cNvPr id="17" name="Shape 14"/>
          <p:cNvSpPr/>
          <p:nvPr/>
        </p:nvSpPr>
        <p:spPr>
          <a:xfrm>
            <a:off x="749808" y="2990088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2990088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11–16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103120" y="2962656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Plan-confirm-execute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303520" y="2962656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Preview, edit, approve, step-wise validated execution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3479292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E8EEF3"/>
          </a:solidFill>
          <a:ln/>
        </p:spPr>
      </p:sp>
      <p:sp>
        <p:nvSpPr>
          <p:cNvPr id="22" name="Shape 19"/>
          <p:cNvSpPr/>
          <p:nvPr/>
        </p:nvSpPr>
        <p:spPr>
          <a:xfrm>
            <a:off x="749808" y="3525012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3525012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17–21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103120" y="3497580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edit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303520" y="3497580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STL Q&amp;A; description-driven edits; PDF assistive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" y="4014216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F1F5F8"/>
          </a:solidFill>
          <a:ln/>
        </p:spPr>
      </p:sp>
      <p:sp>
        <p:nvSpPr>
          <p:cNvPr id="27" name="Shape 24"/>
          <p:cNvSpPr/>
          <p:nvPr/>
        </p:nvSpPr>
        <p:spPr>
          <a:xfrm>
            <a:off x="749808" y="4059936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4059936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22–25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103120" y="4032504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5303520" y="4032504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 + thermal tools; agent runs a cantilever case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40080" y="4549140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E8EEF3"/>
          </a:solidFill>
          <a:ln/>
        </p:spPr>
      </p:sp>
      <p:sp>
        <p:nvSpPr>
          <p:cNvPr id="32" name="Shape 29"/>
          <p:cNvSpPr/>
          <p:nvPr/>
        </p:nvSpPr>
        <p:spPr>
          <a:xfrm>
            <a:off x="749808" y="4594860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4594860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26–30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2103120" y="4567428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Toolroom &amp; memory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5303520" y="4567428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+ sandbox; consolidation + retrieval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40080" y="5084064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F1F5F8"/>
          </a:solidFill>
          <a:ln/>
        </p:spPr>
      </p:sp>
      <p:sp>
        <p:nvSpPr>
          <p:cNvPr id="37" name="Shape 34"/>
          <p:cNvSpPr/>
          <p:nvPr/>
        </p:nvSpPr>
        <p:spPr>
          <a:xfrm>
            <a:off x="749808" y="5129784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38" name="Text 35"/>
          <p:cNvSpPr/>
          <p:nvPr/>
        </p:nvSpPr>
        <p:spPr>
          <a:xfrm>
            <a:off x="749808" y="5129784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31–34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2103120" y="5102352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&amp; privacy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5303520" y="5102352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router; opt-in consent; offline verification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40080" y="5618988"/>
            <a:ext cx="10972800" cy="416052"/>
          </a:xfrm>
          <a:prstGeom prst="roundRect">
            <a:avLst>
              <a:gd name="adj" fmla="val 10989"/>
            </a:avLst>
          </a:prstGeom>
          <a:solidFill>
            <a:srgbClr val="E8EEF3"/>
          </a:solidFill>
          <a:ln/>
        </p:spPr>
      </p:sp>
      <p:sp>
        <p:nvSpPr>
          <p:cNvPr id="42" name="Shape 39"/>
          <p:cNvSpPr/>
          <p:nvPr/>
        </p:nvSpPr>
        <p:spPr>
          <a:xfrm>
            <a:off x="749808" y="5664708"/>
            <a:ext cx="1143000" cy="324612"/>
          </a:xfrm>
          <a:prstGeom prst="roundRect">
            <a:avLst>
              <a:gd name="adj" fmla="val 14085"/>
            </a:avLst>
          </a:prstGeom>
          <a:solidFill>
            <a:srgbClr val="13314B"/>
          </a:solidFill>
          <a:ln/>
        </p:spPr>
      </p:sp>
      <p:sp>
        <p:nvSpPr>
          <p:cNvPr id="43" name="Text 40"/>
          <p:cNvSpPr/>
          <p:nvPr/>
        </p:nvSpPr>
        <p:spPr>
          <a:xfrm>
            <a:off x="749808" y="5664708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35–40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2103120" y="5637276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&amp; write-up</a:t>
            </a:r>
            <a:endParaRPr lang="en-US" sz="1450" dirty="0"/>
          </a:p>
        </p:txBody>
      </p:sp>
      <p:sp>
        <p:nvSpPr>
          <p:cNvPr id="45" name="Text 42"/>
          <p:cNvSpPr/>
          <p:nvPr/>
        </p:nvSpPr>
        <p:spPr>
          <a:xfrm>
            <a:off x="5303520" y="5637276"/>
            <a:ext cx="6217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Benchmark, memory ablation, demo video, thesis (3-day buffer)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what turns a build into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Benchmark: 20–25 tasks across 5 categories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10312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6751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studies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675120" y="212140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/>
        </p:spPr>
      </p:sp>
      <p:sp>
        <p:nvSpPr>
          <p:cNvPr id="10" name="Shape 6"/>
          <p:cNvSpPr/>
          <p:nvPr/>
        </p:nvSpPr>
        <p:spPr>
          <a:xfrm>
            <a:off x="6784848" y="2194560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home/claude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16" y="2308128"/>
            <a:ext cx="193487" cy="1934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3488" y="21214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vs. written acceptance criteria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675120" y="2775204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/>
        </p:spPr>
      </p:sp>
      <p:sp>
        <p:nvSpPr>
          <p:cNvPr id="14" name="Shape 9"/>
          <p:cNvSpPr/>
          <p:nvPr/>
        </p:nvSpPr>
        <p:spPr>
          <a:xfrm>
            <a:off x="6784848" y="2848356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/home/claude/icons/confi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416" y="2961924"/>
            <a:ext cx="193487" cy="1934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33488" y="277520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interventions &amp; error-recovery rate (headline metric)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675120" y="342900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/>
        </p:spPr>
      </p:sp>
      <p:sp>
        <p:nvSpPr>
          <p:cNvPr id="18" name="Shape 12"/>
          <p:cNvSpPr/>
          <p:nvPr/>
        </p:nvSpPr>
        <p:spPr>
          <a:xfrm>
            <a:off x="6784848" y="3502152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/home/claude/icons/mem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416" y="3615720"/>
            <a:ext cx="193487" cy="19348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33488" y="34290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ablation: success with vs. without lessons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675120" y="4082796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/>
        </p:spPr>
      </p:sp>
      <p:sp>
        <p:nvSpPr>
          <p:cNvPr id="22" name="Shape 15"/>
          <p:cNvSpPr/>
          <p:nvPr/>
        </p:nvSpPr>
        <p:spPr>
          <a:xfrm>
            <a:off x="6784848" y="4155948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/home/claude/icons/bran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8416" y="4269516"/>
            <a:ext cx="193487" cy="19348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33488" y="408279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accuracy on a 60-query labelled set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675120" y="4736592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/>
        </p:spPr>
      </p:sp>
      <p:sp>
        <p:nvSpPr>
          <p:cNvPr id="26" name="Shape 18"/>
          <p:cNvSpPr/>
          <p:nvPr/>
        </p:nvSpPr>
        <p:spPr>
          <a:xfrm>
            <a:off x="6784848" y="4809744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5" descr="/home/claude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8416" y="4923312"/>
            <a:ext cx="193487" cy="19348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33488" y="47365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 full benchmark run with networking disabled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675120" y="539038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/>
        </p:spPr>
      </p:sp>
      <p:sp>
        <p:nvSpPr>
          <p:cNvPr id="30" name="Shape 21"/>
          <p:cNvSpPr/>
          <p:nvPr/>
        </p:nvSpPr>
        <p:spPr>
          <a:xfrm>
            <a:off x="6784848" y="5463540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6" descr="/home/claude/icons/toolroo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8416" y="5577108"/>
            <a:ext cx="193487" cy="193487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333488" y="539038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Toolroom: 2 verified syntheses + 1 capability report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3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5486400" cy="5486400"/>
          </a:xfrm>
          <a:prstGeom prst="ellipse">
            <a:avLst/>
          </a:prstGeom>
          <a:solidFill>
            <a:srgbClr val="0E26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0F2A4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624" y="233766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474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Self-Assessment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389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answers to the five suitability questions — MSc level, dataset, techniques, time, and alignment.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MSc-level? What is MY contribution?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cube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3736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F1F5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Necessities (not contributions)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07008" y="24231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FreeCAD as the modeller (reused, not built)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32644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07008" y="32644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 / dock widget plumbing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41056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07008" y="410565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 MCP-FreeCAD bridges exist on GitHub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14400" y="49469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07008" y="494690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model serving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35040" y="173736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1331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</a:t>
            </a:r>
            <a:endParaRPr lang="en-US" sz="1600" dirty="0"/>
          </a:p>
        </p:txBody>
      </p:sp>
      <p:pic>
        <p:nvPicPr>
          <p:cNvPr id="18" name="Image 1" descr="/home/claude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75120" y="234086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plan-confirm-execute protocol with kernel-grounded per-step validation</a:t>
            </a:r>
            <a:endParaRPr lang="en-US" sz="1300" dirty="0"/>
          </a:p>
        </p:txBody>
      </p:sp>
      <p:pic>
        <p:nvPicPr>
          <p:cNvPr id="20" name="Image 2" descr="/home/claude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10896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05409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sandboxed self-extending toolroom + capability reports</a:t>
            </a:r>
            <a:endParaRPr lang="en-US" sz="1300" dirty="0"/>
          </a:p>
        </p:txBody>
      </p:sp>
      <p:pic>
        <p:nvPicPr>
          <p:cNvPr id="22" name="Image 3" descr="/home/claude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82219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75120" y="376732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Reflective memory with consolidation, pruning &amp; a measured ablation</a:t>
            </a:r>
            <a:endParaRPr lang="en-US" sz="1300" dirty="0"/>
          </a:p>
        </p:txBody>
      </p:sp>
      <p:pic>
        <p:nvPicPr>
          <p:cNvPr id="24" name="Image 4" descr="/home/claude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53542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75120" y="44805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all of it under a verifiable local-privacy boundary</a:t>
            </a:r>
            <a:endParaRPr lang="en-US" sz="1300" dirty="0"/>
          </a:p>
        </p:txBody>
      </p:sp>
      <p:pic>
        <p:nvPicPr>
          <p:cNvPr id="26" name="Image 5" descr="/home/claude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524865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75120" y="519379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evaluation of what a local-only stack can actually do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available, appropriate, free to 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901952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46" y="2064898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783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33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large training set is needed.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training-free — it uses pre-trained open-weight models via prompting and tool use, so there is no data-collection bottleneck.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2971800"/>
            <a:ext cx="3529584" cy="2743200"/>
          </a:xfrm>
          <a:prstGeom prst="roundRect">
            <a:avLst>
              <a:gd name="adj" fmla="val 266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326440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/home/claude/icons/cube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46" y="3427354"/>
            <a:ext cx="277612" cy="2776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40233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CAD datasets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46634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DeepCAD &amp; Fusion 360 Gallery — open, widely used, for sourcing test models and complexity references.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480560" y="2971800"/>
            <a:ext cx="3529584" cy="2743200"/>
          </a:xfrm>
          <a:prstGeom prst="roundRect">
            <a:avLst>
              <a:gd name="adj" fmla="val 266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54880" y="326440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/home/claude/icons/im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826" y="3427354"/>
            <a:ext cx="277612" cy="2776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40233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Self-authored benchmark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54880" y="46634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create the 20–25 evaluation tasks &amp; acceptance criteria myself — no permissions, no privacy issues.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321040" y="2971800"/>
            <a:ext cx="3529584" cy="2743200"/>
          </a:xfrm>
          <a:prstGeom prst="roundRect">
            <a:avLst>
              <a:gd name="adj" fmla="val 266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595360" y="326440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/home/claude/icons/mem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306" y="3427354"/>
            <a:ext cx="277612" cy="2776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95360" y="40233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data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595360" y="46634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at runtime from my own interaction sessions — synthetic, local, fully controlled.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avoided: I am not dependent on any third party releasing proprietary data.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 techniques suitable &amp; accessible?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/>
        </p:spPr>
      </p:sp>
      <p:pic>
        <p:nvPicPr>
          <p:cNvPr id="7" name="Image 1" descr="/home/claude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→ CAD ops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074920" y="178308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Proven: Query2CAD drives FreeCAD from LLMs; MCP-FreeCAD bridges already exist.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569464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/>
        </p:spPr>
      </p:sp>
      <p:pic>
        <p:nvPicPr>
          <p:cNvPr id="11" name="Image 2" descr="/home/claude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06624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5694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structured output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5074920" y="2569464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JSON decoding + atomic tools + per-step kernel validation.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/>
        </p:spPr>
      </p:sp>
      <p:pic>
        <p:nvPicPr>
          <p:cNvPr id="15" name="Image 3" descr="/home/claude/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930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3558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geometry from files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074920" y="335584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via OpenCASCADE — zero hallucination on STEP / STL.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142232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/>
        </p:spPr>
      </p:sp>
      <p:pic>
        <p:nvPicPr>
          <p:cNvPr id="19" name="Image 4" descr="/home/claude/icon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79392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1422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validation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5074920" y="4142232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FreeCAD FEM / CalculiX is a validated, integrated solver.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0080" y="4928616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/>
        </p:spPr>
      </p:sp>
      <p:pic>
        <p:nvPicPr>
          <p:cNvPr id="23" name="Image 5" descr="/home/claude/icons/cross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65776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4928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/ PDF understanding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5074920" y="4928616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VLMs are weak here — scoped as assistive-only, user-verified.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Accessibility:  </a:t>
            </a:r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core technique is free &amp; open-source and runs locally. The only paywalled piece — a cloud LLM — is optional and off by default.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it can be done in 40 days?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1331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yes</a:t>
            </a:r>
            <a:endParaRPr lang="en-US" sz="1700" dirty="0"/>
          </a:p>
        </p:txBody>
      </p:sp>
      <p:pic>
        <p:nvPicPr>
          <p:cNvPr id="8" name="Image 1" descr="/home/claude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4144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38658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cost — the CAD kernel &amp; GUI — is reused, not built</a:t>
            </a:r>
            <a:endParaRPr lang="en-US" sz="1300" dirty="0"/>
          </a:p>
        </p:txBody>
      </p:sp>
      <p:pic>
        <p:nvPicPr>
          <p:cNvPr id="10" name="Image 2" descr="/home/claude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09981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checkpoints are demonstrable behaviours, not vague tasks</a:t>
            </a:r>
            <a:endParaRPr lang="en-US" sz="1300" dirty="0"/>
          </a:p>
        </p:txBody>
      </p:sp>
      <p:pic>
        <p:nvPicPr>
          <p:cNvPr id="12" name="Image 3" descr="/home/claude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6791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81304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3-day buffer (days 38–40) absorbs overruns</a:t>
            </a:r>
            <a:endParaRPr lang="en-US" sz="1300" dirty="0"/>
          </a:p>
        </p:txBody>
      </p:sp>
      <p:pic>
        <p:nvPicPr>
          <p:cNvPr id="14" name="Image 4" descr="/home/claude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8114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5262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throughout; one language, familiar tooling</a:t>
            </a:r>
            <a:endParaRPr lang="en-US" sz="1300" dirty="0"/>
          </a:p>
        </p:txBody>
      </p:sp>
      <p:pic>
        <p:nvPicPr>
          <p:cNvPr id="16" name="Image 5" descr="/home/claude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294376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80160" y="52395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strict de-scope order protects the core contributions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309360" y="178308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1F5F8"/>
          </a:solidFill>
          <a:ln/>
        </p:spPr>
      </p:sp>
      <p:sp>
        <p:nvSpPr>
          <p:cNvPr id="19" name="Text 11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 slip, I cut in this order</a:t>
            </a:r>
            <a:endParaRPr lang="en-US" sz="1700" dirty="0"/>
          </a:p>
        </p:txBody>
      </p:sp>
      <p:sp>
        <p:nvSpPr>
          <p:cNvPr id="20" name="Shape 12"/>
          <p:cNvSpPr/>
          <p:nvPr/>
        </p:nvSpPr>
        <p:spPr>
          <a:xfrm>
            <a:off x="6583680" y="2468880"/>
            <a:ext cx="365760" cy="365760"/>
          </a:xfrm>
          <a:prstGeom prst="ellipse">
            <a:avLst/>
          </a:prstGeom>
          <a:solidFill>
            <a:srgbClr val="E08C1A"/>
          </a:solidFill>
          <a:ln/>
        </p:spPr>
      </p:sp>
      <p:sp>
        <p:nvSpPr>
          <p:cNvPr id="21" name="Text 13"/>
          <p:cNvSpPr/>
          <p:nvPr/>
        </p:nvSpPr>
        <p:spPr>
          <a:xfrm>
            <a:off x="65836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7086600" y="24505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drawing understanding (keep STEP / STL)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583680" y="3072384"/>
            <a:ext cx="365760" cy="365760"/>
          </a:xfrm>
          <a:prstGeom prst="ellipse">
            <a:avLst/>
          </a:prstGeom>
          <a:solidFill>
            <a:srgbClr val="E08C1A"/>
          </a:solidFill>
          <a:ln/>
        </p:spPr>
      </p:sp>
      <p:sp>
        <p:nvSpPr>
          <p:cNvPr id="24" name="Text 16"/>
          <p:cNvSpPr/>
          <p:nvPr/>
        </p:nvSpPr>
        <p:spPr>
          <a:xfrm>
            <a:off x="658368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7086600" y="30540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analysis (keep structural FEA)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583680" y="3675888"/>
            <a:ext cx="365760" cy="365760"/>
          </a:xfrm>
          <a:prstGeom prst="ellipse">
            <a:avLst/>
          </a:prstGeom>
          <a:solidFill>
            <a:srgbClr val="E08C1A"/>
          </a:solidFill>
          <a:ln/>
        </p:spPr>
      </p:sp>
      <p:sp>
        <p:nvSpPr>
          <p:cNvPr id="27" name="Text 19"/>
          <p:cNvSpPr/>
          <p:nvPr/>
        </p:nvSpPr>
        <p:spPr>
          <a:xfrm>
            <a:off x="658368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7086600" y="3657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router model (hardcode one model)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583680" y="4279392"/>
            <a:ext cx="365760" cy="365760"/>
          </a:xfrm>
          <a:prstGeom prst="ellipse">
            <a:avLst/>
          </a:prstGeom>
          <a:solidFill>
            <a:srgbClr val="E08C1A"/>
          </a:solidFill>
          <a:ln/>
        </p:spPr>
      </p:sp>
      <p:sp>
        <p:nvSpPr>
          <p:cNvPr id="30" name="Text 22"/>
          <p:cNvSpPr/>
          <p:nvPr/>
        </p:nvSpPr>
        <p:spPr>
          <a:xfrm>
            <a:off x="65836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7086600" y="42611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Toolroom persistence (keep live demo)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583680" y="502920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FCEBD2"/>
          </a:solidFill>
          <a:ln/>
        </p:spPr>
      </p:sp>
      <p:sp>
        <p:nvSpPr>
          <p:cNvPr id="33" name="Text 25"/>
          <p:cNvSpPr/>
          <p:nvPr/>
        </p:nvSpPr>
        <p:spPr>
          <a:xfrm>
            <a:off x="6812280" y="5029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cut: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plan-confirm loop &amp; the memory ablation.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· BONUS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align with my objectives?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07568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icons/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46" y="2238634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4208" y="20939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agentic AI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2697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with the exact skills industry wants now: LLM agents, tool-calling, MCP, retrieval &amp; evaluation.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18504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92824" y="207568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770" y="2238634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42632" y="20939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engineering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592824" y="2697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concrete, demonstrable privacy-by-design system — a strong, differentiated CV talking point.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4400" y="431596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/home/claude/icons/cube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46" y="4478914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64208" y="43342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depth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14400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CAD / CAE engineering integration, not a toy chatbot — bridges AI with mechanical design.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318504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92824" y="4315968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/home/claude/icons/ev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770" y="4478914"/>
            <a:ext cx="277612" cy="2776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42632" y="43342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+ build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592824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both working software and a measurable study — ideal for either industry or further research.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 to existing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20095" y="457200"/>
            <a:ext cx="658368" cy="658368"/>
          </a:xfrm>
          <a:prstGeom prst="ellipse">
            <a:avLst/>
          </a:prstGeom>
          <a:solidFill>
            <a:srgbClr val="13314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855" y="634959"/>
            <a:ext cx="302849" cy="302849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36192"/>
                <a:gridCol w="1536192"/>
                <a:gridCol w="1536192"/>
                <a:gridCol w="1536192"/>
                <a:gridCol w="15361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Sim. 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Self-ext.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DeepCAD / Text2CAD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8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Query2CAD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Seek-CAD (local)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9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CADDesigner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8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8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FreeCAD-MCP projects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Zoo / AdamCAD (products)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8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8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This project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9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9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9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9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9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6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 is the only row affirmative across every column. ✓ present  ·  ✗ absent  ·  — partial.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CAD Assistant  ·  MSc Major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0E26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4114800" cy="4114800"/>
          </a:xfrm>
          <a:prstGeom prst="ellipse">
            <a:avLst/>
          </a:prstGeom>
          <a:solidFill>
            <a:srgbClr val="0F2A4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04515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integrated, evaluated, privacy-preserving agentic CAD assistant with a human-in-the-loop verification protocol.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0E2638"/>
          </a:solidFill>
          <a:ln w="12700">
            <a:solidFill>
              <a:srgbClr val="2146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169664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home/claude/icons/confi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1" y="4322735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4023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34840" y="40233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0E2638"/>
          </a:solidFill>
          <a:ln w="12700">
            <a:solidFill>
              <a:srgbClr val="21465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4169664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home/claude/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511" y="4322735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94960" y="4023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&amp; private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229600" y="40233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0E2638"/>
          </a:solidFill>
          <a:ln w="12700">
            <a:solidFill>
              <a:srgbClr val="21465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58200" y="4169664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/home/claude/icons/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271" y="4322735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89720" y="4023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Self-improving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 &amp; feedback welcome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Privacy-Preserving Agentic AI Assistant for Parametric CAD</dc:title>
  <dc:subject>PptxGenJS Presentation</dc:subject>
  <dc:creator>MSc Major Project</dc:creator>
  <cp:lastModifiedBy>MSc Major Project</cp:lastModifiedBy>
  <cp:revision>1</cp:revision>
  <dcterms:created xsi:type="dcterms:W3CDTF">2026-06-10T13:24:45Z</dcterms:created>
  <dcterms:modified xsi:type="dcterms:W3CDTF">2026-06-10T13:24:45Z</dcterms:modified>
</cp:coreProperties>
</file>